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 mensal (R$)</c:v>
                </c:pt>
              </c:strCache>
            </c:strRef>
          </c:tx>
          <c:spPr>
            <a:solidFill>
              <a:srgbClr val="FCA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ca5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ca5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ca5a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ca5a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-20696</c:v>
                </c:pt>
                <c:pt idx="1">
                  <c:v>-41815</c:v>
                </c:pt>
                <c:pt idx="2">
                  <c:v>-191525</c:v>
                </c:pt>
                <c:pt idx="3">
                  <c:v>-49903</c:v>
                </c:pt>
                <c:pt idx="4">
                  <c:v>5841</c:v>
                </c:pt>
                <c:pt idx="5">
                  <c:v>-2179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pi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Construmais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financeiro e plano de ação comercial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entre o relatório da Viabiliza Consultoria (jan–jun/2026) e os dados internos de Curva ABC e estoque da Pillar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com Tony · Setembro/2026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DA VIABILIZA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caixa está positivo, mas a operação deu prejuízo de R$ 300 mil no semestre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0756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INICIAL (JAN/26)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R$ 438 mil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383280" y="18745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66160" y="20756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DO SEMESTRE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560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R$ 300 mil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20756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FINAL (JUN/26)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560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R$ 138 mil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052560" y="18745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35440" y="20756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CONTRIBUIÇÃO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560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21,8%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/>
        </p:spPr>
      </p:sp>
      <p:pic>
        <p:nvPicPr>
          <p:cNvPr id="17" name="Image 0" descr="ic-alert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06240"/>
            <a:ext cx="502920" cy="50292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554480" y="41605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motivo do prejuízo: a empresa está pagando fornecedor num ritmo bem mais rápido do que recebe das vendas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7091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"no papel" (regime de competência):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-R$ 72,3 mil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Lucro real de caixa: </a:t>
            </a:r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-R$ 300,3 mil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51663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de R$ 228 mil entre os dois regimes. Sinal de descompasso entre pagamento de compra e recebimento de venda.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· Marketing com Resultado Concreto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PROBLEMA SE CONCENTROU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Março concentrou 64% do déficit do semestre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mensal de caixa (entradas − saídas), jan–jun/2026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920240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9244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MARÇO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377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R$ 191,5 mil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de R$ 616 mil no mês, o dobro dos outros meses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818120" y="3520440"/>
            <a:ext cx="3794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9244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março, a situação estabilizou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41148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foi o único mês positivo (+R$ 5,8 mil)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fechou quase no zero a zero (-R$ 2,2 mil)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Viabiliza recomenda validar as compras de março antes de qualquer decisão estrutural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· Marketing com Resultado Concreto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MARGEM ESTÁ BAIXA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margem de 21,8% está longe da meta de 28% que a Viabiliza definiu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contribuição hoje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4983480" cy="45720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2103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21,8%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em 60 dias (Viabiliza)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063240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30632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28,0%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Faltam 6,2 pontos percentuais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6400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343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Pillar já enxerga vs. o que falta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091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da mercadoria (CMV): a Pillar já calcula por SKU, margem bruta bate com o da Viabiliza (~42% x 40%)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Imposto sobre venda, comissão, frete de entrega, cartão: não aparecem em nenhum relatório de ERP, só a Viabiliza tem essa conta fechada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0" y="1783080"/>
            <a:ext cx="4297680" cy="1965960"/>
          </a:xfrm>
          <a:prstGeom prst="roundRect">
            <a:avLst>
              <a:gd name="adj" fmla="val 3721"/>
            </a:avLst>
          </a:prstGeom>
          <a:solidFill>
            <a:srgbClr val="0F172A"/>
          </a:solidFill>
          <a:ln/>
        </p:spPr>
      </p:sp>
      <p:pic>
        <p:nvPicPr>
          <p:cNvPr id="17" name="Image 0" descr="ic-percent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01168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5895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CMV / RECEITA BRUTA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59,7%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758952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Somado a impostos e deduções, 73,7% da receita já sai antes de qualquer despesa fixa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15200" y="3931920"/>
            <a:ext cx="4297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1" descr="ic-tag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416052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5895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VARIÁVEL AINDA SEM MAPA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7589520" y="4983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R$ 312 mil</a:t>
            </a:r>
            <a:endParaRPr lang="en-US" sz="2800" dirty="0"/>
          </a:p>
        </p:txBody>
      </p:sp>
      <p:sp>
        <p:nvSpPr>
          <p:cNvPr id="25" name="Text 21"/>
          <p:cNvSpPr txBox="1"/>
          <p:nvPr/>
        </p:nvSpPr>
        <p:spPr>
          <a:xfrm>
            <a:off x="7589520" y="5532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21,6% da receita do semestre, é o que separa margem bruta de margem de contribuição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· Marketing com Resultado Concreto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O NOSSO DIAGNÓSTICO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cimento puxa faturamento, mas os agregados carregam a margem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bruta por produto, média dos 4 períodos de Curva ABC processados (mai/25 a jun/26)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21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Cimento Montes Claros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2267712"/>
            <a:ext cx="2377440" cy="310896"/>
          </a:xfrm>
          <a:prstGeom prst="roundRect">
            <a:avLst>
              <a:gd name="adj" fmla="val 11765"/>
            </a:avLst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3931920" y="2267712"/>
            <a:ext cx="887578" cy="310896"/>
          </a:xfrm>
          <a:prstGeom prst="roundRect">
            <a:avLst>
              <a:gd name="adj" fmla="val 11765"/>
            </a:avLst>
          </a:prstGeom>
          <a:solidFill>
            <a:srgbClr val="6474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21945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1455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Cimento Poty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0" y="3291840"/>
            <a:ext cx="2377440" cy="310896"/>
          </a:xfrm>
          <a:prstGeom prst="roundRect">
            <a:avLst>
              <a:gd name="adj" fmla="val 11765"/>
            </a:avLst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3931920" y="3291840"/>
            <a:ext cx="847954" cy="310896"/>
          </a:xfrm>
          <a:prstGeom prst="roundRect">
            <a:avLst>
              <a:gd name="adj" fmla="val 11765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321868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1696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Areia Fina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35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MARGEM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31920" y="4315968"/>
            <a:ext cx="2377440" cy="310896"/>
          </a:xfrm>
          <a:prstGeom prst="roundRect">
            <a:avLst>
              <a:gd name="adj" fmla="val 11765"/>
            </a:avLst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4315968"/>
            <a:ext cx="2048561" cy="310896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424281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084064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193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Pedra Britada 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559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MARGEM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931920" y="5340096"/>
            <a:ext cx="2377440" cy="310896"/>
          </a:xfrm>
          <a:prstGeom prst="roundRect">
            <a:avLst>
              <a:gd name="adj" fmla="val 11765"/>
            </a:avLst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3931920" y="5340096"/>
            <a:ext cx="2155546" cy="310896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0" y="526694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818120" y="2011680"/>
            <a:ext cx="3794760" cy="3886200"/>
          </a:xfrm>
          <a:prstGeom prst="roundRect">
            <a:avLst>
              <a:gd name="adj" fmla="val 1928"/>
            </a:avLst>
          </a:prstGeom>
          <a:solidFill>
            <a:srgbClr val="0F172A"/>
          </a:solidFill>
          <a:ln/>
        </p:spPr>
      </p:sp>
      <p:pic>
        <p:nvPicPr>
          <p:cNvPr id="30" name="Image 0" descr="ic-bag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286000"/>
            <a:ext cx="502920" cy="50292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09244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temos a resposta comercial pronta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092440" y="34747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cimento é isca por decisão do Tony, e continua sendo. Não mexe no preço dele.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Kit Fundação e Alvenaria (cimento + areia + pedra + tijolo) já está desenhado e validado nos 4 períodos de dado.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lançar. É a alavanca mais rápida pra puxar a margem média pra cima sem mexer em preço de isca.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· Marketing com Resultado Concreto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DE CAIXA RÁPIDO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R$ 289 mil em estoque parado é capital que dá pra virar caixa em 60–90 dias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problema de dívida da Viabiliza. É ação comercial, território da Pillar.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sem nenhuma venda em 14 meses: R$ 351,5 mil (1.733 SKUs)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944628" cy="914400"/>
          </a:xfrm>
          <a:prstGeom prst="roundRect">
            <a:avLst>
              <a:gd name="adj" fmla="val 6000"/>
            </a:avLst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5584708" y="2103120"/>
            <a:ext cx="5845292" cy="9144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194560"/>
            <a:ext cx="4716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R$ 161,2 mil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confirmado como normal (uso interno, encomenda). Não mexer.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721868" y="2194560"/>
            <a:ext cx="55252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R$ 289,3 mil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real a campanha de giro/desova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611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R$ 190,3 mil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148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checagem qualitativa ainda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805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a checagem item a item, priorizado por valor. Os itens sem explicação de negócio entram direto na campanha de liquidação.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338328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3611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R$ 99,0 mil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1148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caindo, 121+ dias sem venda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4805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não é estoque parado de fato, mas está no caminho. Candidato a campanha de giro antes de virar capital 100% empatado.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· Marketing com Resultado Concreto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DA PILLAR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frentes que atacam a margem sem depender de renegociar fornecedor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4028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6" name="Image 0" descr="ic-packag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957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6517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Campanha de giro de estoque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840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os R$ 289 mil parados em caixa via desconto pontual e kit de saída, 60–90 dias.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577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GESTOR-TRAFEGO · COPYWRITER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383280" y="196596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3611880" y="224028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3" name="Image 1" descr="ic-bag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239572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Lançar kits por fase de obra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3840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Fundação e Alvenaria já validado. Eleva ticket médio e margem por venda.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611880" y="5577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COPYWRITER · WEBDESIGNER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217920" y="196596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ln/>
        </p:spPr>
      </p:sp>
      <p:sp>
        <p:nvSpPr>
          <p:cNvPr id="19" name="Shape 15"/>
          <p:cNvSpPr/>
          <p:nvPr/>
        </p:nvSpPr>
        <p:spPr>
          <a:xfrm>
            <a:off x="6446520" y="224028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0" name="Image 2" descr="ic-tag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39572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210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44652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Playbook de desconto e follow-up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446520" y="3840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não existe regra de piso de desconto nem follow-up de orçamento perdido.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446520" y="5577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COPYWRITER · PILAR 4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9052560" y="196596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ln/>
        </p:spPr>
      </p:sp>
      <p:sp>
        <p:nvSpPr>
          <p:cNvPr id="26" name="Shape 21"/>
          <p:cNvSpPr/>
          <p:nvPr/>
        </p:nvSpPr>
        <p:spPr>
          <a:xfrm>
            <a:off x="9281160" y="224028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7" name="Image 3" descr="ic-target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239572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11556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928116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Tráfego por categoria de margem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9281160" y="3840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Redirecionar parte da verba pra Tintométrico, elétrica e hidráulica.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9281160" y="5577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GESTOR-TRAFEGO</a:t>
            </a:r>
            <a:endParaRPr lang="en-US" sz="85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· Marketing com Resultado Concreto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DECIDIR COM O TONY HOJE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pergunta pra Viabiliza e duas aprovações pra destravar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ED7AA"/>
            </a:solidFill>
            <a:prstDash val="solid"/>
          </a:ln>
        </p:spPr>
      </p:sp>
      <p:pic>
        <p:nvPicPr>
          <p:cNvPr id="5" name="Image 0" descr="ic-message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011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pra levar à Viabiliza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3774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"Além do custo da mercadoria, quais outros custos entram na conta dos 21,8% (imposto, comissão, frete, cartão)? Dá pra abrir isso por categoria de produto, ou só existe o total da empresa?"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F172A"/>
          </a:solidFill>
          <a:ln/>
        </p:spPr>
      </p:sp>
      <p:pic>
        <p:nvPicPr>
          <p:cNvPr id="9" name="Image 1" descr="ic-check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60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47091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9834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Início da campanha de giro do estoque parado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63640" y="3931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F172A"/>
          </a:solidFill>
          <a:ln/>
        </p:spPr>
      </p:sp>
      <p:pic>
        <p:nvPicPr>
          <p:cNvPr id="13" name="Image 2" descr="ic-check-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1605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37960" y="47091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537960" y="49834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Lançamento do Kit Fundação e Alvenaria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· Marketing com Resultado Concreto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ALINHADO COM A VIABILIZA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60 / 90 dias, duas frentes trabalhando juntas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DIAS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51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VIABILIZA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março e travar teto de compras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526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00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campanha de giro do estoque parado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1828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DIAS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43400" y="2514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2651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VIABILIZA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9260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precificação e mix (meta 28%)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43891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4526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800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kits por fase de obra e playbook de desconto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182880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38160" y="1828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DIAS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2514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0" y="2651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VIABILIZA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29260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Reestruturação de passivos e prazos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43891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9731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4526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800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Redirecionar tráfego por margem e medir resultado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· Marketing com Resultado Concreto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Construmais — Diagnóstico Financeiro e Plano de Ação</dc:title>
  <dc:subject>PptxGenJS Presentation</dc:subject>
  <dc:creator>Pillar</dc:creator>
  <cp:lastModifiedBy>Pillar</cp:lastModifiedBy>
  <cp:revision>1</cp:revision>
  <dcterms:created xsi:type="dcterms:W3CDTF">2026-09-21T12:16:26Z</dcterms:created>
  <dcterms:modified xsi:type="dcterms:W3CDTF">2026-09-21T12:16:26Z</dcterms:modified>
</cp:coreProperties>
</file>