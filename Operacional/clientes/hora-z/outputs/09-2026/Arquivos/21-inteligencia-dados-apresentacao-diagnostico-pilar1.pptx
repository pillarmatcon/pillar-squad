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Classe A = 173 SKUs, 79,9% do faturamento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por classe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0F172A"/>
              </a:solidFill>
              <a:effectLst/>
            </c:spPr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Classe A — 79,9%</c:v>
                </c:pt>
                <c:pt idx="1">
                  <c:v>Classe B — 15,0%</c:v>
                </c:pt>
                <c:pt idx="2">
                  <c:v>Classe C — 5,0%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79.9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% do faturamento por categoria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faturamento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Básico</c:v>
                  </c:pt>
                  <c:pt idx="1">
                    <c:v>Acabamento</c:v>
                  </c:pt>
                  <c:pt idx="2">
                    <c:v>Hidráulica</c:v>
                  </c:pt>
                  <c:pt idx="3">
                    <c:v>Pintura</c:v>
                  </c:pt>
                  <c:pt idx="4">
                    <c:v>Não classif.</c:v>
                  </c:pt>
                  <c:pt idx="5">
                    <c:v>Ferramentas</c:v>
                  </c:pt>
                  <c:pt idx="6">
                    <c:v>Elétrica</c:v>
                  </c:pt>
                  <c:pt idx="7">
                    <c:v>Bazar/div.</c:v>
                  </c:pt>
                  <c:pt idx="8">
                    <c:v>EPI/seg.</c:v>
                  </c:pt>
                  <c:pt idx="9">
                    <c:v>Serviço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49.8</c:v>
                </c:pt>
                <c:pt idx="1">
                  <c:v>12.3</c:v>
                </c:pt>
                <c:pt idx="2">
                  <c:v>8.9</c:v>
                </c:pt>
                <c:pt idx="3">
                  <c:v>7.4</c:v>
                </c:pt>
                <c:pt idx="4">
                  <c:v>6.7</c:v>
                </c:pt>
                <c:pt idx="5">
                  <c:v>5.2</c:v>
                </c:pt>
                <c:pt idx="6">
                  <c:v>4.6</c:v>
                </c:pt>
                <c:pt idx="7">
                  <c:v>2.3</c:v>
                </c:pt>
                <c:pt idx="8">
                  <c:v>1.4</c:v>
                </c:pt>
                <c:pt idx="9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0292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pic>
        <p:nvPicPr>
          <p:cNvPr id="4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07128" y="1051560"/>
            <a:ext cx="237744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148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COM RESULTADO CONCRETO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27889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e Kits de Produto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Dados  ·  Método Viga Mestra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90008" y="45262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90008" y="4526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Hora Z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/ 2026  ·  Primeira rodada de diagnóstico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Viga Mestra — 5 Pilares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própria da Pillar para loja de material de construção. Este material cobre o Pilar 1 (base de dados) e aponta oportunidade para o Pilar 3 (kits de produto).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F97316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274320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27432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FOCO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37033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Dados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438912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Giro, margem, estoque parado e produtos isca lidos direto do ERP do cliente.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260604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/>
        </p:spPr>
      </p:sp>
      <p:sp>
        <p:nvSpPr>
          <p:cNvPr id="13" name="Shape 10"/>
          <p:cNvSpPr/>
          <p:nvPr/>
        </p:nvSpPr>
        <p:spPr>
          <a:xfrm>
            <a:off x="2880360" y="2743200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880360" y="274320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90779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907792" y="37033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de Produtos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907792" y="438912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por fase de obra a partir dos produtos isca e de margem alta identificados aqui.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0" y="260604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19379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5193792" y="37033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Territorial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93792" y="438912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de entrega lucrativo e otimização de perfil digital. Pendente de onboarding.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15200" y="260604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7979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479792" y="37033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 de Elite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479792" y="438912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rápida e follow-up de orçamento. Pendente de onboarding.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01200" y="260604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765792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9765792" y="37033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Obra Integral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438912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Fidelização do cliente ao longo das fases da obra. Pendente de onboarding.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Z em números — primeira leitura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Curva ABC e Estoque exportados do ERP do cliente, recebidos em 15/09/2026. Período da Curva ABC não declarado pela fonte, tratado como acumulado até a data de recebimento.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26426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NO RELATÓRIO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8986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R$ 521.254,92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5661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1.187 SKUs distintos vendidos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42816" y="2514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07408" y="26426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SEM OUTLIERS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07408" y="28986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R$ 291.831,91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407408" y="35661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 2 lançamentos "Plataforma" (R$ 229.423,01)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28432" y="2514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93024" y="26426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TOTAL A CUSTO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93024" y="28986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R$ 40.661,03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193024" y="3566160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SKUs únicos, snapshot 15/09/2026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4242816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4370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PARADO (PROXY)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462686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R$ 6.293,29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5294376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SKUs (33%) sem venda no acumulado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42816" y="4242816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07408" y="4370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FORA DO PADRÃO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462686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SKUs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407408" y="5294376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custo zerado, 16 custo acima do preço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28432" y="4242816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193024" y="4370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RISCO DE RUPTURA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193024" y="4626864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itens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8193024" y="5294376"/>
            <a:ext cx="3236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A/B com estoque de 0 a 10 unidades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metodologia: giro por quantidade não é Curva ABC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do cliente vem com uma classificação pronta por unidades vendidas ("Curva ABC de Produtos por quantidade"). Curva ABC de verdade classifica por faturamento.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" y="245973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GIRO POR QUANTIDADE (NÃO É ABC)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1576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1 SKU · B: 70 · C: 1.114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926080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22,0% / 57,9% / 20,1% do volume — 2,2% / 29,9% / 67,8% do faturamento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559552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36792" y="245973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POR FATURAMENTO (OFICIAL)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36792" y="2715768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173 SKUs · B: 369 · C: 643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36792" y="2926080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79,9% / 15,0% / 5,0% do faturamento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338560" cy="2468880"/>
        </p:xfrm>
        <a:graphic>
          <a:graphicData uri="http://schemas.openxmlformats.org/drawingml/2006/table">
            <a:tbl>
              <a:tblPr/>
              <a:tblGrid>
                <a:gridCol w="5852160"/>
                <a:gridCol w="1280160"/>
                <a:gridCol w="12801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(qtd.)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(fat.)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Cimento Supremo 50kg — R$ 27.868,00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alto, não volume, é o que fatura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09x14x24 — R$ 6.452,00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giro e classe A em faturamento, coincidem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 segurança epóxi piso Farben — R$ 8.638,46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unidades vendidas, mas 2º maior faturamento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Epóxi piso branco Farben — R$ 7.873,06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padrão: baixo giro, alto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 plástica tijolo oco 06mm — R$ 46,00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 un. vendidas, valor unitário baixo demais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 oficial, por faturamento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R$ 291.831,91, 1.185 SKUs (sem os 2 outliers "Plataforma"). Corte A até 80% do faturamento acumulado, B de 80% a 95%, C de 95% a 100%.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33172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331720"/>
          <a:ext cx="7589520" cy="356616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1371600"/>
                <a:gridCol w="1371600"/>
                <a:gridCol w="118872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Cimento Supremo 50kg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R$ 27.868,00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Vermelho segurança epóxi piso Farben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R$ 8.638,46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0,3%*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Epóxi piso branco Farben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R$ 7.873,06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Argamassa Superkola 3Mais 20kg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R$ 7.166,12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condicionado 9.000 BTU TCL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R$ 6.600,00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R$ 6.452,00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Catalisador epóxi p/piso Farben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R$ 5.495,40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Areia fina cinza 1m³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R$ 5.440,07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concreto normal 14x19x39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R$ 5.248,80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 preparador parede 18L Alessi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R$ 4.312,00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*Margem calculável praticamente nula (custo R$ 261,69 x preço R$ 262,41): confirmar cadastro com o cliente. "Sem dado" = SKU não consta no relatório de Estoque recebido.</a:t>
            </a:r>
            <a:endParaRPr lang="en-US" sz="95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por faturamento e margem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ponderada calculada só com os SKUs cruzáveis com o relatório de Estoque. Cobertura = % do faturamento da categoria com margem calculável.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8600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86000"/>
          <a:ext cx="56692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822960"/>
                <a:gridCol w="1005840"/>
                <a:gridCol w="9144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R$ 145.326,68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R$ 35.804,53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R$ 25.995,10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R$ 21.534,66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R$ 19.468,78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R$ 15.232,33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Elétrica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R$ 13.543,89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355080" y="4709160"/>
            <a:ext cx="5669280" cy="150876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37960" y="4800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· BÁSICO (49,8% do faturamento)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6537960" y="5047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Cimento Supremo 50kg — R$ 27.868 · Argamassa Superkola 3Mais — R$ 7.166 · Tijolo 6 furos 09x14x24 — R$ 6.452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6537960" y="5532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· ACABAMENTO (12,3% do faturamento, margem 6,8%*)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537960" y="57790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seg. epóxi piso Farben — R$ 8.638 · Epóxi piso branco Farben — R$ 7.873 · Catalisador epóxi Farben — R$ 5.495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 estoque por categoria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SKUs, R$ 40.661,03 a custo (bruto). O valor bruto inclui 8 SKUs em Básico com custo cadastrado acima do preço de venda.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758952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46304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bruto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SKUs s/ outlier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sem 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R$ 20.890,00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R$ 10.934,68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R$ 6.158,68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R$ 6.140,38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R$ 3.570,11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R$ 2.807,96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R$ 2.990,60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R$ 2.990,60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R$ 2.886,51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R$ 1.578,53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Elétrica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R$ 1.782,90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R$ 1.640,40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R$ 1.604,65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R$ 1.604,65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EPI/segurança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R$ 761,91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R$ 761,91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Bazar/diversos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R$ 40.661,03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R$ 28.474,77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75320" y="2286000"/>
            <a:ext cx="3456432" cy="356616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582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ITENS COM CUSTO MAL CADASTRADO EM BÁSICO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283464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 c/ anel concreto 8mm — R$ 5.377,50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Estribo Flexfer 10x16 — R$ 2.520,00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 tijolo oco 10mm — R$ 752,45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 de brita 5m³ — R$ 534,40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armada 8mm — R$ 279,80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 de aço plastificado — R$ 247,93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Estribo de aço 20x9 — R$ 131,20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Desengraxante 500ml — R$ 112,04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produtos: valor em estoque e quantidade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sem outliers de cadastro, com a faixa de custo quando o produto tem mais de um fornecedor. Quantidade não depende de custo.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76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VALORES EM ESTOQUE (SEM OUTLIERS)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50592"/>
          <a:ext cx="548640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30175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(faixa se +1 fornec.)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Cimento Supremo 50kg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R$ 3.135 – R$ 3.505,50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R$ 1.883 – R$ 2.779,86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R$ 1.508 – R$ 2.436,07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Tubo esgoto 100mm 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R$ 707,02 – R$ 719,90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 de brita 5m³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R$ 534,40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Argamassa Extrakolla 2 20kg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R$ 507,00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Argamassa Superkola 3Mais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R$ 415,68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 3/8 (12m) 10mm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R$ 386,10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2176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QUANTIDADES EM ESTOQUE (UNIDADES)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450592"/>
          <a:ext cx="548640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37490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Tijolo 6 furos 09x14x24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Parafuso chipboard 4,0x50mm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 plástica tijolo oco 10mm*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 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Parafuso drywall forro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Parafuso chip 4,5x40 amarelo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Bucha c/ anel concreto 8mm*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*Outlier de cadastro (custo &gt; preço): o volume alto some junto com o valor quando o custo for corrigido no ERP.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parado, por tempo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SKUs sem venda no acumulado da Curva ABC (R$ 6.293,29 a custo). "Data da última compra" é a leitura mais honesta disponível, não é data de venda.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245973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MAIS ANTIGO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15768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22/12/2025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1089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SKUs compartilham a data, reposição única há 9 meses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23317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16552" y="245973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PARADO MAIS RECENTE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16552" y="2715768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11/09/2026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416552" y="310896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compra entre os 148 SKUs sem venda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46720" y="2331720"/>
            <a:ext cx="36850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11312" y="245973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POR CATEGORIA (CORRIGIDA)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11312" y="2715768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classif. lidera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211312" y="3108960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R$1.648 (38) &gt; Ferram. R$1.064 (35) &gt; Hidr. R$997 (21) &gt; Elét. R$954 (12)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0424160" cy="1975104"/>
        </p:xfrm>
        <a:graphic>
          <a:graphicData uri="http://schemas.openxmlformats.org/drawingml/2006/table">
            <a:tbl>
              <a:tblPr/>
              <a:tblGrid>
                <a:gridCol w="4572000"/>
                <a:gridCol w="2651760"/>
                <a:gridCol w="146304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parado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Fast Set 2.300L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R$ 241,33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Jogo brocas/talhadeira SDS Plus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R$ 155,00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Piscina Fast Set 1000L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R$ 157,18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Pulverizador costal manual 20L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R$ 141,47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Jogo brocas chatas 7 peças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classificado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R$ 31,43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exemplos acima fazem parte do lote de 23 SKUs de 22/12/2025, candidatos mais fortes a estoque parado de verdade.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Giro (quantidade) x Margem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SKUs cruzados. Giro ≥ 4 un. no acumulado = alto giro; margem ≥ 44,3% (mediana) = alta margem.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2660904" cy="128016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85216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271576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SKUs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30449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R$ 2.942,70 em estoque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3300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giro · alta margem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55264" y="2331720"/>
            <a:ext cx="2660904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0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71576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SKUs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0449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R$ 24.446,22 em estoque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300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giro · baixa margem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53328" y="2331720"/>
            <a:ext cx="266090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81344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lucro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181344" y="271576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SKUs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30449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R$ 1.603,65 em estoque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181344" y="3300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giro · alta margem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851392" y="2331720"/>
            <a:ext cx="266090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79408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 liquidar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979408" y="271576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SKUs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979408" y="30449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R$ 5.375,16 em estoque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979408" y="3300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giro · baixa margem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5486400" cy="2468880"/>
          </a:xfrm>
          <a:prstGeom prst="roundRect">
            <a:avLst>
              <a:gd name="adj" fmla="val 259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" y="39410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PROVISÓRIA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21792" y="4270248"/>
            <a:ext cx="5157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dos 295 SKUs cruzados têm mais de um fornecedor cadastrado. Em 37 deles a margem cruza a linha de 44,3% dependendo do custo usado, ou seja, o quadrante é provisório.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central: Argamassa massa reboco 20kg (candidata a kit com o cimento) vai de Estrela (margem 56,5%) a Isca (margem 24,2%) dependendo do fornecedor confirmado.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45352" y="37947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28232" y="39227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RUPTURA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28232" y="41788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A/B do indicador de giro por quantidade, estoque ≤ 10 unidades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4526280"/>
          <a:ext cx="4846320" cy="164592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Telha cerâmica esmaltada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vendidas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1C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 crepe amarela 18x40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 vendidas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77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Argamassa massa reboco 20kg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vendidas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77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 3/8 (12m) 10mm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vendidas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770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 5/16 (12m) 8mm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vendidas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de produto propostos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3, Combo de Produtos. Produto isca (giro alto, margem apertada) puxa a venda, produto de margem mais alta na mesma etapa de obra sustenta o ticket.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496312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FFF7E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SUGERIDO 1 · ALVENARIA / REBOCO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044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Cimento Supremo 50kg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 un. · margem 16,8%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566160" y="297180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75888" y="3044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ALTA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3675888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Argamassa Massa Reboco (provisória)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75888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un. · margem 56,5% a 24,2%*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1605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 Massa Reboco tem 2 fornecedores cadastrados. Se a margem cair pra 24,2%, a Argamassa Extrakolla 2 (margem estável de 42,2%, fornecedor único) é a alternativa mais segura pra sustentar a margem do kit.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3640" y="23317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2496312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FFF7E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4652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SUGERIDO 2 · ESTRUTURA / ALVENARIA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46520" y="29718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56248" y="3044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6556248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6 furos / Bloco concreto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562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6.860 / 4.170 un. · margem 34-37%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372600" y="297180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82328" y="3044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ALTA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9482328" y="3246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Argamassa de assentamento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482328" y="3611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Superkola 3Mais 20kg · margem 37,9%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446520" y="41605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racional do Kit 1, aplicado à fase estrutural: tijolo e bloco têm o maior giro absoluto do catálogo e estoque confortável (sem risco de ruptura no momento).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7200" y="57150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 e estribo ficaram de fora dos kits (outliers de cadastro pendentes de correção). Composição final, precificação e comunicação são decisão do copywriter e do cliente.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illar-squad/cf35b7fa-c9b6-5e6f-b62c-03934e8f67be/scratchpad/hora-z-pptx/logo-pil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0" y="502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PILAR 1 · HORA Z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e próximos passos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21488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2402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o cliente o período real coberto pela Curva ABC (o relatório não declara data de início/fim).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7336" y="214884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5449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11696" y="22402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 natureza dos 2 lançamentos "Plataforma" (R$ 229.423,01) antes de usar faturamento total em decisão de mídia por categoria.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cadastro do item Vermelho segurança epóxi piso Farben (21070): 2º maior faturamento da loja, margem calculada de apenas 0,3%.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17336" y="32004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5449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711696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cobertura de margem por categoria (hoje entre 7,7% e 46,1% do faturamento) com um relatório de estoque mais completo.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2519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4343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no ERP o cadastro dos 8 itens de Básico com custo acima do preço de venda.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17336" y="42519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54496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711696" y="4343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o cliente os 23 SKUs do lote de 22/12/2025, candidatos mais fortes a liquidação por estoque parado real.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53035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4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5394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produtos isca e os 2 kits sugeridos ao copywriter para composição, precificação e copy final (Pilar 3).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17336" y="53035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254496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711696" y="5394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onboarding cadastral do cliente (CLIENTE.md) para avançar nos demais 4 pilares do Método Viga Mestra.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Marketing com Resultado Concreto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2026-09-21T17:11:53Z</dcterms:created>
  <dcterms:modified xsi:type="dcterms:W3CDTF">2026-09-21T17:11:53Z</dcterms:modified>
</cp:coreProperties>
</file>